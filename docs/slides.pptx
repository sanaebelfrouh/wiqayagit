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LOSING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394960" cy="2651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5120640" cy="2651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D8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Wiqaya · Arab Youth Space Hackathon 2026 · Climate &amp; Disaster Resilience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56692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Wiqaya · Arab Youth Space Hackathon 2026 · Climate &amp; Disaster Resilience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8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914400"/>
            <a:ext cx="5394960" cy="2651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Wiqaya: Wildfire Susceptibility Mapping and Alerts for the Forests of Northern Morocco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51206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Sanae Belfrouh · Wiame Kane · Yassine Azmou · Mohammed Yassine Sof · Hajar Elouatiq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D8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Wiqaya — Morocco</a:t>
            </a:r>
            <a:endParaRPr lang="en-US" sz="16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D8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D8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 Youth Space Hackathon 2026 · Proof of Concept</a:t>
            </a:r>
            <a:endParaRPr lang="en-US" sz="1600" dirty="0"/>
          </a:p>
          <a:p>
            <a:pPr algn="l" indent="0" marL="0">
              <a:buNone/>
            </a:pPr>
            <a:r>
              <a:rPr lang="en-US" sz="1600" i="1" dirty="0">
                <a:solidFill>
                  <a:srgbClr val="F9C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Theme: Climate &amp; Disaster Resilience</a:t>
            </a:r>
            <a:endParaRPr lang="en-US" sz="16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D8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9DB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2026 · github.com/SanaeBelfrouh/wiqayagit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western Rif burns almost every summer, and warnings arrive after ignition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400800" cy="3429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Recent large fires: </a:t>
            </a:r>
            <a:r>
              <a:rPr lang="en-US" sz="1600" dirty="0">
                <a:solidFill>
                  <a:schemeClr val="tx1"/>
                </a:solidFill>
              </a:rPr>
              <a:t>Bouhachem 2022 (&gt; 7,500 ha), Larache 2022 (&gt; 10,500 ha), Derdara 2021 and Bouhachem 2020 (~1,100 ha each), two fires in August 2025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Drivers: </a:t>
            </a:r>
            <a:r>
              <a:rPr lang="en-US" sz="1600" dirty="0">
                <a:solidFill>
                  <a:schemeClr val="tx1"/>
                </a:solidFill>
              </a:rPr>
              <a:t>hot, dry chergui winds, steep slopes, villages (douars) inside the forest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Gap: </a:t>
            </a:r>
            <a:r>
              <a:rPr lang="en-US" sz="1600" dirty="0">
                <a:solidFill>
                  <a:schemeClr val="tx1"/>
                </a:solidFill>
              </a:rPr>
              <a:t>danger bulletins are province-scale and satellite detections come after ignition; there is no daily, cell-level view of risk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Why satellite data: </a:t>
            </a:r>
            <a:r>
              <a:rPr lang="en-US" sz="1600" dirty="0">
                <a:solidFill>
                  <a:schemeClr val="tx1"/>
                </a:solidFill>
              </a:rPr>
              <a:t>NASA FIRMS gives the only consistent 20-year fire record of these remote mountains (MODIS since 2005, VIIRS 375 m since 2017)</a:t>
            </a:r>
            <a:endParaRPr lang="en-US" sz="1600" dirty="0"/>
          </a:p>
        </p:txBody>
      </p:sp>
      <p:pic>
        <p:nvPicPr>
          <p:cNvPr id="4" name="Flame icon 1" descr="Flame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87552" y="4892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10,600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440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people living inside the forest</a:t>
            </a:r>
            <a:endParaRPr lang="en-US" sz="1200" dirty="0"/>
          </a:p>
        </p:txBody>
      </p:sp>
      <p:pic>
        <p:nvPicPr>
          <p:cNvPr id="7" name="Flame icon 2" descr="Flame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4956048"/>
            <a:ext cx="384048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136392" y="4892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264,000</a:t>
            </a:r>
            <a:endParaRPr lang="en-US" sz="2800" dirty="0"/>
          </a:p>
        </p:txBody>
      </p:sp>
      <p:sp>
        <p:nvSpPr>
          <p:cNvPr id="9" name="Text 5"/>
          <p:cNvSpPr txBox="1"/>
          <p:nvPr/>
        </p:nvSpPr>
        <p:spPr>
          <a:xfrm>
            <a:off x="2697480" y="5440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people within 10 km of it</a:t>
            </a:r>
            <a:endParaRPr lang="en-US" sz="1200" dirty="0"/>
          </a:p>
        </p:txBody>
      </p:sp>
      <p:pic>
        <p:nvPicPr>
          <p:cNvPr id="10" name="Flame icon 3" descr="Flame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4956048"/>
            <a:ext cx="384048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285232" y="48920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445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4846320" y="54406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FIRMS detections inside the forest since 2005</a:t>
            </a:r>
            <a:endParaRPr lang="en-US" sz="1200" dirty="0"/>
          </a:p>
        </p:txBody>
      </p:sp>
      <p:pic>
        <p:nvPicPr>
          <p:cNvPr id="13" name="Study area map" descr="Study area m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920" y="1325880"/>
            <a:ext cx="4251960" cy="413308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360920" y="5532120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1. Study area (25,900 ha) and NASA FIRMS detections by period. Population: WorldPop 2017.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use case: where to patrol today, and whether to warn residents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512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users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Forest managers (national forestry agency, ANEF), Civil Protection, provinces and communes; residents of the villages in and around the forest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supported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summer morning: where to send patrols and first-intervention teams, and whether the day is dangerous enough to warn residents and restrict burning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practice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Province-scale danger bulletins, field knowledge, and fire detections (FIRMS, EFFIS) that arrive after ignition; no alerts in Arabic and French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 of Wiqaya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m risk map with alert zones and a per-cell explanation, daily weather danger index, 20-year fire history, SMS / email alerts in three languages, open GeoJSON API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model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Subscription per protected area for institutions; free citizen alerts funded by these contracts or CSR partners; open data, so no imagery cost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Data: open Earth-observation and ancillary datasets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663440"/>
                <a:gridCol w="2103120"/>
                <a:gridCol w="21305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and provider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fires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NASA FIRMS: MODIS C6.1 and VIIRS S-NPP 375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2005–2026 (1,176 points)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Labels, fire history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elevation model, ≈30 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Elevation, slope, aspect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WorldPop mar_ppp_2017 (CC BY 4.0)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Exposure per cell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Open-Meteo: ERA5 archive and forecast (CC BY 4.0)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2017–today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 danger index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Optical imagery 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Sentinel-2 L2A, Landsat C2 L2 (Planetary Computer)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2005–2025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NDVI, NDMI, NBR, dNBR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 cover, OSM 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classification; OpenStreetMap 2022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2021–2022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Fuel, human pressure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16052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* Research notebook only. </a:t>
            </a:r>
            <a:r>
              <a:rPr lang="en-US" sz="1400" b="1" dirty="0">
                <a:solidFill>
                  <a:schemeClr val="tx1"/>
                </a:solidFill>
              </a:rPr>
              <a:t>Hyperspectral data is not used in this proof of concept; </a:t>
            </a:r>
            <a:r>
              <a:rPr lang="en-US" sz="1400" dirty="0">
                <a:solidFill>
                  <a:schemeClr val="tx1"/>
                </a:solidFill>
              </a:rPr>
              <a:t>EnMAP or Arab Satellite 813 scenes are planned to map live fuel moisture and vegetation species.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Approach: from satellite detections to alert zones</a:t>
            </a:r>
            <a:endParaRPr lang="en-US" sz="2800" dirty="0"/>
          </a:p>
        </p:txBody>
      </p:sp>
      <p:sp>
        <p:nvSpPr>
          <p:cNvPr id="3" name="Step 1"/>
          <p:cNvSpPr/>
          <p:nvPr/>
        </p:nvSpPr>
        <p:spPr>
          <a:xfrm>
            <a:off x="548640" y="1417320"/>
            <a:ext cx="23774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90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1. Inputs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FIRMS 2005–2026, DEM, WorldPop, forest boundaries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999232" y="2217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6" name="Step 2"/>
          <p:cNvSpPr/>
          <p:nvPr/>
        </p:nvSpPr>
        <p:spPr>
          <a:xfrm>
            <a:off x="3454298" y="1417320"/>
            <a:ext cx="23774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45738" y="1490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2. Grid and features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6,071 cells of 250 m; elevation, slope, aspect, population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04890" y="2217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9" name="Step 3"/>
          <p:cNvSpPr/>
          <p:nvPr/>
        </p:nvSpPr>
        <p:spPr>
          <a:xfrm>
            <a:off x="6359957" y="1417320"/>
            <a:ext cx="23774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51397" y="1490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3. Fire history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FIRMS within 375 m; years since last fire (no leakage)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810549" y="2217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2" name="Step 4"/>
          <p:cNvSpPr/>
          <p:nvPr/>
        </p:nvSpPr>
        <p:spPr>
          <a:xfrm>
            <a:off x="9265615" y="1417320"/>
            <a:ext cx="23774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57055" y="1490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4. Model selection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Logistic regression vs random forest, leave-one-year-out 2017–2024</a:t>
            </a:r>
            <a:endParaRPr lang="en-US" sz="1500" dirty="0"/>
          </a:p>
        </p:txBody>
      </p:sp>
      <p:sp>
        <p:nvSpPr>
          <p:cNvPr id="14" name="Step 5"/>
          <p:cNvSpPr/>
          <p:nvPr/>
        </p:nvSpPr>
        <p:spPr>
          <a:xfrm>
            <a:off x="548640" y="3703320"/>
            <a:ext cx="23774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776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5. Fuel rule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Risk 0 if burned &lt; 1 year ago; × 0.5 if 1–5 years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999232" y="4503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7" name="Step 6"/>
          <p:cNvSpPr/>
          <p:nvPr/>
        </p:nvSpPr>
        <p:spPr>
          <a:xfrm>
            <a:off x="3454298" y="3703320"/>
            <a:ext cx="23774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45738" y="3776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6. Blind test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Retrain on 2017–2024; score the 2025 fires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904890" y="4503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0" name="Step 7"/>
          <p:cNvSpPr/>
          <p:nvPr/>
        </p:nvSpPr>
        <p:spPr>
          <a:xfrm>
            <a:off x="6359957" y="3703320"/>
            <a:ext cx="23774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51397" y="3776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7. Risk map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 KMeans classes; alert = riskiest 20 % of cells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810549" y="4503420"/>
            <a:ext cx="381914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3" name="Step 8"/>
          <p:cNvSpPr/>
          <p:nvPr/>
        </p:nvSpPr>
        <p:spPr>
          <a:xfrm>
            <a:off x="9265615" y="3703320"/>
            <a:ext cx="237744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5875">
            <a:solidFill>
              <a:schemeClr val="accent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357055" y="3776472"/>
            <a:ext cx="2194560" cy="1453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8. Weather danger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Max T, VPD, wind, min RH ranked vs 2017–2024 summers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10454335" y="3063240"/>
            <a:ext cx="0" cy="292608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737360" y="3355848"/>
            <a:ext cx="8716975" cy="0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37360" y="3355848"/>
            <a:ext cx="0" cy="301752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48640" y="57150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Reproducible: notebooks/02_main_analysis.ipynb runs end to end in about 5 minutes from the committed sample inputs (fixed seeds, relative paths).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classes on 1 August 2025: the 2025 fires fell outside the alert zones</a:t>
            </a:r>
            <a:endParaRPr lang="en-US" sz="2800" dirty="0"/>
          </a:p>
        </p:txBody>
      </p:sp>
      <p:pic>
        <p:nvPicPr>
          <p:cNvPr id="3" name="Headline result map" descr="Headline result map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17320" y="1234440"/>
            <a:ext cx="9326880" cy="4709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436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2. Left: five risk classes; outlined cells are alert zones (riskiest 20 %); blue points are the 2025 FIRMS fires (blind test). Right: years since the last FIRMS fire (20 = none since 2005). Notebook output results/example_output.png.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Population, terrain and fire history drive the selected model</a:t>
            </a:r>
            <a:endParaRPr lang="en-US" sz="2800" dirty="0"/>
          </a:p>
        </p:txBody>
      </p:sp>
      <p:pic>
        <p:nvPicPr>
          <p:cNvPr id="3" name="Feature importance chart" descr="Feature importance cha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035040" cy="322783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8006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3. Absolute standardised coefficients of the logistic regression.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6949440" y="1463040"/>
            <a:ext cx="4690872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Selected model: </a:t>
            </a:r>
            <a:r>
              <a:rPr lang="en-US" sz="1600" dirty="0">
                <a:solidFill>
                  <a:schemeClr val="tx1"/>
                </a:solidFill>
              </a:rPr>
              <a:t>L2 logistic regression (C = 0.5, balanced classes)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Strongest predictors: </a:t>
            </a:r>
            <a:r>
              <a:rPr lang="en-US" sz="1600" dirty="0">
                <a:solidFill>
                  <a:schemeClr val="tx1"/>
                </a:solidFill>
              </a:rPr>
              <a:t>population, elevation, east-facing aspect, then fire history (years since the last fire, burned in the last 5 years)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Weak predictor: </a:t>
            </a:r>
            <a:r>
              <a:rPr lang="en-US" sz="1600" dirty="0">
                <a:solidFill>
                  <a:schemeClr val="tx1"/>
                </a:solidFill>
              </a:rPr>
              <a:t>slope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Missing drivers: </a:t>
            </a:r>
            <a:r>
              <a:rPr lang="en-US" sz="1600" dirty="0">
                <a:solidFill>
                  <a:schemeClr val="tx1"/>
                </a:solidFill>
              </a:rPr>
              <a:t>vegetation dryness and human access, available only in the research notebook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model is delivered to users through a web platform</a:t>
            </a:r>
            <a:endParaRPr lang="en-US" sz="2800" dirty="0"/>
          </a:p>
        </p:txBody>
      </p:sp>
      <p:pic>
        <p:nvPicPr>
          <p:cNvPr id="3" name="Risk map screenshot" descr="Risk map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364328" cy="3116983"/>
          </a:xfrm>
          <a:prstGeom prst="rect">
            <a:avLst/>
          </a:prstGeom>
        </p:spPr>
      </p:pic>
      <p:pic>
        <p:nvPicPr>
          <p:cNvPr id="4" name="Fire history screenshot" descr="Fire history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8" y="1371600"/>
            <a:ext cx="5364328" cy="324913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4712178"/>
            <a:ext cx="536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4. Daily risk map with the weather danger of the day and the five-class legend.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6278728" y="4712178"/>
            <a:ext cx="53643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5. Fire history: 25 July 2022, start of the Bouhachem fire; FIRMS shows 5 detections, 4 inside the forest.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for residents: Arabic, French and English, on any phone</a:t>
            </a:r>
            <a:endParaRPr lang="en-US" sz="2800" dirty="0"/>
          </a:p>
        </p:txBody>
      </p:sp>
      <p:pic>
        <p:nvPicPr>
          <p:cNvPr id="3" name="Arabic interface screenshot" descr="Arabic interface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949440" cy="4343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8064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6. Right-to-left Arabic interface.</a:t>
            </a:r>
            <a:endParaRPr lang="en-US" sz="1100" dirty="0"/>
          </a:p>
        </p:txBody>
      </p:sp>
      <p:pic>
        <p:nvPicPr>
          <p:cNvPr id="5" name="Phone fire history" descr="Phone fire histor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1371600"/>
            <a:ext cx="1828800" cy="3959352"/>
          </a:xfrm>
          <a:prstGeom prst="rect">
            <a:avLst/>
          </a:prstGeom>
        </p:spPr>
      </p:pic>
      <p:pic>
        <p:nvPicPr>
          <p:cNvPr id="6" name="Phone alert form" descr="Phone alert for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1512" y="1371600"/>
            <a:ext cx="1828800" cy="395935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5440680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Fig. 7. Fire history and SMS / email alert sign-up on a phone.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Validation: informative on large-fire years, but the 2025 blind test fails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2918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Leave-one-year-out 2017–2024, logistic regression (selected)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ROC-AUC per year 0.62; global 0.65; PR lift 1.64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Leave-one-year-out 2017–2024, random forest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ROC-AUC per year 0.56; global 0.60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 per held-out year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2018: 0.99 · 2019: 0.88 · 2020: 0.80 · 2021: 0.68 · 2023: 0.23 · 2024: 0.06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Blind test, 2025 fires (39 cells)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 0.25; no fire cell in the alert zones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15200" y="1371600"/>
            <a:ext cx="4325112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Works </a:t>
            </a:r>
            <a:r>
              <a:rPr lang="en-US" sz="1500" dirty="0">
                <a:solidFill>
                  <a:schemeClr val="tx1"/>
                </a:solidFill>
              </a:rPr>
              <a:t>on the large fire years 2018–2021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Fails </a:t>
            </a:r>
            <a:r>
              <a:rPr lang="en-US" sz="1500" dirty="0">
                <a:solidFill>
                  <a:schemeClr val="tx1"/>
                </a:solidFill>
              </a:rPr>
              <a:t>on 2023–2025: the 2025 fires started in cells rated low risk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Cause: </a:t>
            </a:r>
            <a:r>
              <a:rPr lang="en-US" sz="1500" dirty="0">
                <a:solidFill>
                  <a:schemeClr val="tx1"/>
                </a:solidFill>
              </a:rPr>
              <a:t>predictors describe exposure, terrain and history, not vegetation dryness or human access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Few positives: </a:t>
            </a:r>
            <a:r>
              <a:rPr lang="en-US" sz="1500" dirty="0">
                <a:solidFill>
                  <a:schemeClr val="tx1"/>
                </a:solidFill>
              </a:rPr>
              <a:t>345 fire cell-years; per-year scores are unstable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No leakage: </a:t>
            </a:r>
            <a:r>
              <a:rPr lang="en-US" sz="1500" dirty="0">
                <a:solidFill>
                  <a:schemeClr val="tx1"/>
                </a:solidFill>
              </a:rPr>
              <a:t>history strictly before each date; 2025 never used for training or selection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impact and strategic alignment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4008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Contribution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SDG 13 Climate action (13.1)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Resilience to heatwave- and wind-driven fire seasons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SDG 15 Life on land (15.1, 15.2)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Patrols and firebreak work targeted at the riskiest cells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SDG 11 Sustainable communities (11.5)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warning for ~10,600 people living inside the forest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1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15200" y="1371600"/>
            <a:ext cx="4325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Morocco: </a:t>
            </a:r>
            <a:r>
              <a:rPr lang="en-US" sz="1600" dirty="0">
                <a:solidFill>
                  <a:schemeClr val="tx1"/>
                </a:solidFill>
              </a:rPr>
              <a:t>supports the strategy Forêts du Maroc 2020–2030, ANEF and Civil Protection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Arab region: </a:t>
            </a:r>
            <a:r>
              <a:rPr lang="en-US" sz="1600" dirty="0">
                <a:solidFill>
                  <a:schemeClr val="tx1"/>
                </a:solidFill>
              </a:rPr>
              <a:t>open data only; replicable in Mediterranean forests of Algeria, Tunisia, Lebanon and Syria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b="1" dirty="0">
                <a:solidFill>
                  <a:schemeClr val="tx1"/>
                </a:solidFill>
              </a:rPr>
              <a:t>Inclusion: </a:t>
            </a:r>
            <a:r>
              <a:rPr lang="en-US" sz="1600" dirty="0">
                <a:solidFill>
                  <a:schemeClr val="tx1"/>
                </a:solidFill>
              </a:rPr>
              <a:t>Arabic-first interface; SMS for residents without smartphones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5669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for incubation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21208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b="1" dirty="0">
                <a:solidFill>
                  <a:srgbClr val="F9C74F"/>
                </a:solidFill>
              </a:rPr>
              <a:t>Better predictors: </a:t>
            </a:r>
            <a:r>
              <a:rPr lang="en-US" sz="1500" dirty="0">
                <a:solidFill>
                  <a:schemeClr val="bg1"/>
                </a:solidFill>
              </a:rPr>
              <a:t>land cover, OpenStreetMap distances and daily Sentinel-2 NDVI, NDMI, NBR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b="1" dirty="0">
                <a:solidFill>
                  <a:srgbClr val="F9C74F"/>
                </a:solidFill>
              </a:rPr>
              <a:t>Hyperspectral: </a:t>
            </a:r>
            <a:r>
              <a:rPr lang="en-US" sz="1500" dirty="0">
                <a:solidFill>
                  <a:schemeClr val="bg1"/>
                </a:solidFill>
              </a:rPr>
              <a:t>EnMAP / Arab Satellite 813 maps of live fuel moisture and species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b="1" dirty="0">
                <a:solidFill>
                  <a:srgbClr val="F9C74F"/>
                </a:solidFill>
              </a:rPr>
              <a:t>Better reference data: </a:t>
            </a:r>
            <a:r>
              <a:rPr lang="en-US" sz="1500" dirty="0">
                <a:solidFill>
                  <a:schemeClr val="bg1"/>
                </a:solidFill>
              </a:rPr>
              <a:t>validation on dNBR burned areas, not only FIRMS points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b="1" dirty="0">
                <a:solidFill>
                  <a:srgbClr val="F9C74F"/>
                </a:solidFill>
              </a:rPr>
              <a:t>Operations: </a:t>
            </a:r>
            <a:r>
              <a:rPr lang="en-US" sz="1500" dirty="0">
                <a:solidFill>
                  <a:schemeClr val="bg1"/>
                </a:solidFill>
              </a:rPr>
              <a:t>SMS gateway, daily batch processing, alert workflow with forest managers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500" b="1" dirty="0">
                <a:solidFill>
                  <a:srgbClr val="F9C74F"/>
                </a:solidFill>
              </a:rPr>
              <a:t>Pilot: </a:t>
            </a:r>
            <a:r>
              <a:rPr lang="en-US" sz="1500" dirty="0">
                <a:solidFill>
                  <a:schemeClr val="bg1"/>
                </a:solidFill>
              </a:rPr>
              <a:t>one fire season in Bouhachem, Derdara and Jbel Sougna, then other Mediterranean forests</a:t>
            </a:r>
            <a:endParaRPr lang="en-US" sz="1500" dirty="0"/>
          </a:p>
        </p:txBody>
      </p:sp>
      <p:sp>
        <p:nvSpPr>
          <p:cNvPr id="4" name="Reproduce box"/>
          <p:cNvSpPr/>
          <p:nvPr/>
        </p:nvSpPr>
        <p:spPr>
          <a:xfrm>
            <a:off x="548640" y="4800600"/>
            <a:ext cx="5029200" cy="1417320"/>
          </a:xfrm>
          <a:prstGeom prst="roundRect">
            <a:avLst>
              <a:gd name="adj" fmla="val 5161"/>
            </a:avLst>
          </a:prstGeom>
          <a:solidFill>
            <a:srgbClr val="0E2A20">
              <a:alpha val="85000"/>
            </a:srgb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4892040"/>
            <a:ext cx="47548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accent6"/>
                </a:solidFill>
              </a:rPr>
              <a:t>Reproduce the headline result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bg1"/>
                </a:solidFill>
              </a:rPr>
              <a:t>github.com/SanaeBelfrouh/wiqayagit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jupyter lab notebooks/02_main_analysis.ipynb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DB8A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018001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 and data sources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Assali, F. et al. (2016). Forest-fire risk mapping in the Chefchaouen-Ouazzane region, Morocco (topoclimate index).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Hersbach, H. et al. (2020). The ERA5 global reanalysis. Q. J. R. Meteorol. Soc., 146, 1999–2049.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NASA FIRMS. MODIS Collection 6.1 and VIIRS S-NPP 375 m active fire detections. https://earthdata.nasa.gov/firms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WorldPop (2018). Morocco 2017 population counts (mar_ppp_2017). University of Southampton. CC BY 4.0.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Zippenfeld, P. Open-Meteo.com Weather API. CC BY 4.0. https://open-meteo.com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Copernicus Sentinel-2 L2A data (2015–2025) and USGS Landsat Collection 2 Level-2, accessed via Microsoft Planetary Computer.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© OpenStreetMap contributors (ODbL). Basemaps: Esri World Topo Map; OpenTopoMap (CC BY-SA).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Software: GeoPandas, Rasterio, rasterstats, scikit-learn, FastAPI, Leaflet. Code released under the MIT licence.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iqaya Forest and Space">
  <a:themeElements>
    <a:clrScheme name="Wiqaya Forest and Space">
      <a:dk1>
        <a:srgbClr val="1F2A24"/>
      </a:dk1>
      <a:lt1>
        <a:srgbClr val="FFFFFF"/>
      </a:lt1>
      <a:dk2>
        <a:srgbClr val="0E2A20"/>
      </a:dk2>
      <a:lt2>
        <a:srgbClr val="F4F7F2"/>
      </a:lt2>
      <a:accent1>
        <a:srgbClr val="1B4332"/>
      </a:accent1>
      <a:accent2>
        <a:srgbClr val="E8590C"/>
      </a:accent2>
      <a:accent3>
        <a:srgbClr val="5F6F66"/>
      </a:accent3>
      <a:accent4>
        <a:srgbClr val="2A9D8F"/>
      </a:accent4>
      <a:accent5>
        <a:srgbClr val="F9C74F"/>
      </a:accent5>
      <a:accent6>
        <a:srgbClr val="8ECAE6"/>
      </a:accent6>
      <a:hlink>
        <a:srgbClr val="2A9D8F"/>
      </a:hlink>
      <a:folHlink>
        <a:srgbClr val="6B4FA0"/>
      </a:folHlink>
    </a:clrScheme>
    <a:fontScheme name="Wiqaya Forest and Spa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Wiqaya — Wildfire susceptibility mapping and alerts, northern Morocco</dc:title>
  <dc:subject>PptxGenJS Presentation</dc:subject>
  <dc:creator>Sanae Belfrouh, Wiame Kane, Yassine Azmou, Mohammed Yassine Sof, Hajar Elouatiq</dc:creator>
  <cp:lastModifiedBy>Sanae Belfrouh, Wiame Kane, Yassine Azmou, Mohammed Yassine Sof, Hajar Elouatiq</cp:lastModifiedBy>
  <cp:revision>1</cp:revision>
  <dcterms:created xsi:type="dcterms:W3CDTF">2026-10-11T19:00:03Z</dcterms:created>
  <dcterms:modified xsi:type="dcterms:W3CDTF">2026-10-11T19:00:03Z</dcterms:modified>
</cp:coreProperties>
</file>